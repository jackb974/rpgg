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2" r:id="rId4"/>
  </p:sldMasterIdLst>
  <p:notesMasterIdLst>
    <p:notesMasterId r:id="rId18"/>
  </p:notesMasterIdLst>
  <p:handoutMasterIdLst>
    <p:handoutMasterId r:id="rId19"/>
  </p:handoutMasterIdLst>
  <p:sldIdLst>
    <p:sldId id="281" r:id="rId5"/>
    <p:sldId id="293" r:id="rId6"/>
    <p:sldId id="297" r:id="rId7"/>
    <p:sldId id="295" r:id="rId8"/>
    <p:sldId id="302" r:id="rId9"/>
    <p:sldId id="304" r:id="rId10"/>
    <p:sldId id="303" r:id="rId11"/>
    <p:sldId id="305" r:id="rId12"/>
    <p:sldId id="301" r:id="rId13"/>
    <p:sldId id="296" r:id="rId14"/>
    <p:sldId id="294" r:id="rId15"/>
    <p:sldId id="300" r:id="rId16"/>
    <p:sldId id="275" r:id="rId17"/>
  </p:sldIdLst>
  <p:sldSz cx="12192000" cy="6858000"/>
  <p:notesSz cx="6669088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85E"/>
    <a:srgbClr val="009FE3"/>
    <a:srgbClr val="EF765E"/>
    <a:srgbClr val="129A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7B28038-0CA3-4C35-8D3F-B8A069B339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118D38-FBCA-4DE8-BD30-895D5287DE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5B5BF-4A0F-4D4B-9242-5BC3FA71534D}" type="datetimeFigureOut">
              <a:rPr lang="fr-FR" smtClean="0"/>
              <a:t>02/10/2024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AB3A2C-63CE-48CF-9961-DE3DCEBA02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22E095-BCC0-48B5-8AF8-BAC4224EA6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986FE-4834-4858-B056-4BB1F553CE6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801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CC9BE-B89B-0F42-8FEB-F96E2236995E}" type="datetimeFigureOut">
              <a:rPr lang="fr-FR" smtClean="0"/>
              <a:t>02/10/2024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5882A-810A-494C-AF7A-49522011FED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47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5882A-810A-494C-AF7A-49522011FED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77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5882A-810A-494C-AF7A-49522011FED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93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bleu, Bleu électrique, bleu vert, Graphique&#10;&#10;Description générée automatiquement">
            <a:extLst>
              <a:ext uri="{FF2B5EF4-FFF2-40B4-BE49-F238E27FC236}">
                <a16:creationId xmlns:a16="http://schemas.microsoft.com/office/drawing/2014/main" id="{805F3425-16EA-3403-6D50-9CEB129FAD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ous-titre 2">
            <a:extLst>
              <a:ext uri="{FF2B5EF4-FFF2-40B4-BE49-F238E27FC236}">
                <a16:creationId xmlns:a16="http://schemas.microsoft.com/office/drawing/2014/main" id="{3576847D-5D4D-1AB8-AE0C-03F40852E5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2615171"/>
            <a:ext cx="12192000" cy="1876287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 </a:t>
            </a:r>
          </a:p>
          <a:p>
            <a:r>
              <a:rPr lang="fr-FR" dirty="0"/>
              <a:t>sur 2 lignes maximum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5A458A7D-6246-B696-88E2-DD1EAF75A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11279" y="5041905"/>
            <a:ext cx="5969438" cy="466570"/>
          </a:xfr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869382"/>
                      <a:gd name="connsiteY0" fmla="*/ 0 h 831634"/>
                      <a:gd name="connsiteX1" fmla="*/ 7869382 w 7869382"/>
                      <a:gd name="connsiteY1" fmla="*/ 0 h 831634"/>
                      <a:gd name="connsiteX2" fmla="*/ 7869382 w 7869382"/>
                      <a:gd name="connsiteY2" fmla="*/ 831634 h 831634"/>
                      <a:gd name="connsiteX3" fmla="*/ 0 w 7869382"/>
                      <a:gd name="connsiteY3" fmla="*/ 831634 h 831634"/>
                      <a:gd name="connsiteX4" fmla="*/ 0 w 7869382"/>
                      <a:gd name="connsiteY4" fmla="*/ 0 h 831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69382" h="831634" fill="none" extrusionOk="0">
                        <a:moveTo>
                          <a:pt x="0" y="0"/>
                        </a:moveTo>
                        <a:cubicBezTo>
                          <a:pt x="3742985" y="-49533"/>
                          <a:pt x="6485535" y="-14809"/>
                          <a:pt x="7869382" y="0"/>
                        </a:cubicBezTo>
                        <a:cubicBezTo>
                          <a:pt x="7854646" y="200296"/>
                          <a:pt x="7885926" y="698449"/>
                          <a:pt x="7869382" y="831634"/>
                        </a:cubicBezTo>
                        <a:cubicBezTo>
                          <a:pt x="5685295" y="783403"/>
                          <a:pt x="2932166" y="916089"/>
                          <a:pt x="0" y="831634"/>
                        </a:cubicBezTo>
                        <a:cubicBezTo>
                          <a:pt x="-59964" y="417738"/>
                          <a:pt x="-72618" y="299928"/>
                          <a:pt x="0" y="0"/>
                        </a:cubicBezTo>
                        <a:close/>
                      </a:path>
                      <a:path w="7869382" h="831634" stroke="0" extrusionOk="0">
                        <a:moveTo>
                          <a:pt x="0" y="0"/>
                        </a:moveTo>
                        <a:cubicBezTo>
                          <a:pt x="3173349" y="118645"/>
                          <a:pt x="6507346" y="116012"/>
                          <a:pt x="7869382" y="0"/>
                        </a:cubicBezTo>
                        <a:cubicBezTo>
                          <a:pt x="7904917" y="397397"/>
                          <a:pt x="7891132" y="476799"/>
                          <a:pt x="7869382" y="831634"/>
                        </a:cubicBezTo>
                        <a:cubicBezTo>
                          <a:pt x="5740248" y="966234"/>
                          <a:pt x="2252866" y="674438"/>
                          <a:pt x="0" y="831634"/>
                        </a:cubicBezTo>
                        <a:cubicBezTo>
                          <a:pt x="-13317" y="470069"/>
                          <a:pt x="-60308" y="34643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 kern="1200" spc="0" dirty="0" smtClean="0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1pPr>
            <a:lvl2pPr>
              <a:defRPr lang="fr-FR" sz="2400" b="1" kern="1200" dirty="0" smtClean="0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2pPr>
            <a:lvl3pPr>
              <a:defRPr lang="fr-FR" sz="2400" b="1" kern="1200" dirty="0" smtClean="0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3pPr>
            <a:lvl4pPr>
              <a:defRPr lang="fr-FR" sz="2400" b="1" kern="1200" dirty="0" smtClean="0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4pPr>
            <a:lvl5pPr>
              <a:defRPr lang="fr-FR" sz="2400" b="1" kern="1200" dirty="0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5pPr>
          </a:lstStyle>
          <a:p>
            <a:pPr lvl="0"/>
            <a:r>
              <a:rPr lang="fr-FR" dirty="0"/>
              <a:t>Kick-off</a:t>
            </a:r>
          </a:p>
        </p:txBody>
      </p:sp>
    </p:spTree>
    <p:extLst>
      <p:ext uri="{BB962C8B-B14F-4D97-AF65-F5344CB8AC3E}">
        <p14:creationId xmlns:p14="http://schemas.microsoft.com/office/powerpoint/2010/main" val="282967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0546B28-3AAF-BB96-7CCD-C1318E9A0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2265C7B-9546-4B90-85E9-115223D3B4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166" y="2328672"/>
            <a:ext cx="9698182" cy="1764290"/>
          </a:xfr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/>
              <a:t>Grande partie </a:t>
            </a:r>
            <a:br>
              <a:rPr lang="fr-FR"/>
            </a:br>
            <a:r>
              <a:rPr lang="fr-FR"/>
              <a:t>sur une ligne ou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6CCB18-1C85-45A8-94C2-42E5BE16F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66" y="4223828"/>
            <a:ext cx="9144000" cy="82788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ulish" pitchFamily="2" charset="77"/>
                <a:ea typeface="Inter Tight" pitchFamily="2" charset="0"/>
                <a:cs typeface="Inter T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0225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5241C0DA-8B5E-A432-F544-7DAC7E9B12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1DDC537A-6060-4B38-7627-C16035C66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137" y="1453724"/>
            <a:ext cx="3209605" cy="5416550"/>
          </a:xfrm>
        </p:spPr>
        <p:txBody>
          <a:bodyPr/>
          <a:lstStyle/>
          <a:p>
            <a:endParaRPr lang="fr-FR"/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5CB16856-3B7A-2744-CE73-E17B44AFB4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29013" y="1454150"/>
            <a:ext cx="7112394" cy="417513"/>
          </a:xfrm>
        </p:spPr>
        <p:txBody>
          <a:bodyPr/>
          <a:lstStyle>
            <a:lvl1pPr marL="0" indent="0">
              <a:buNone/>
              <a:defRPr sz="2000" b="1" i="0">
                <a:solidFill>
                  <a:srgbClr val="009FE3"/>
                </a:solidFill>
                <a:latin typeface="Mulish" pitchFamily="2" charset="77"/>
                <a:cs typeface="Prompt SemiBold" pitchFamily="2" charset="-34"/>
              </a:defRPr>
            </a:lvl1pPr>
          </a:lstStyle>
          <a:p>
            <a:pPr lvl="0"/>
            <a:r>
              <a:rPr lang="fr-FR"/>
              <a:t>Sous-titre slide texte photo 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5818AAC-BB00-C67D-1680-DCB246B19E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9013" y="2098675"/>
            <a:ext cx="8062912" cy="3995738"/>
          </a:xfrm>
        </p:spPr>
        <p:txBody>
          <a:bodyPr>
            <a:noAutofit/>
          </a:bodyPr>
          <a:lstStyle>
            <a:lvl1pPr marL="0" indent="0">
              <a:buNone/>
              <a:defRPr lang="fr-FR" sz="1600" kern="1200" dirty="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>
              <a:latin typeface="Inter Tight" pitchFamily="2" charset="0"/>
              <a:ea typeface="Inter Tight" pitchFamily="2" charset="0"/>
              <a:cs typeface="Inter Tight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Nunc viverra imperdiet enim. Fusce est. Vivamus a tellus.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>
              <a:latin typeface="Inter Tight" pitchFamily="2" charset="0"/>
              <a:ea typeface="Inter Tight" pitchFamily="2" charset="0"/>
              <a:cs typeface="Inter Tight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Pellentesque habitant morbi tristique senectus et netus et malesuada fames ac turpis egestas. Proin pharetra nonummy pede. Mauris et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orci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urna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Nunc viverra imperdiet enim. Fusce est. Vivamus a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tellus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Pellentesque habitant morbi tristique senectus et netus et malesuada fames ac turpis egestas. Proin pharetra nonummy pede. Mauris et orci.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3CB35C4-0D9B-E7FC-224E-4716BB95D5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978" y="237089"/>
            <a:ext cx="8300006" cy="626691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1F485E"/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 dirty="0"/>
              <a:t>Modifier ici titre slide </a:t>
            </a:r>
            <a:r>
              <a:rPr lang="fr-FR" dirty="0" err="1"/>
              <a:t>bulletpoint</a:t>
            </a:r>
            <a:r>
              <a:rPr lang="fr-FR" dirty="0"/>
              <a:t> – bleu pétrole</a:t>
            </a:r>
          </a:p>
        </p:txBody>
      </p:sp>
    </p:spTree>
    <p:extLst>
      <p:ext uri="{BB962C8B-B14F-4D97-AF65-F5344CB8AC3E}">
        <p14:creationId xmlns:p14="http://schemas.microsoft.com/office/powerpoint/2010/main" val="292416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419EB4AC-9B66-34CE-09C9-F2044603E3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1DDC537A-6060-4B38-7627-C16035C66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8219" y="2049730"/>
            <a:ext cx="4773431" cy="4077728"/>
          </a:xfrm>
        </p:spPr>
        <p:txBody>
          <a:bodyPr/>
          <a:lstStyle/>
          <a:p>
            <a:endParaRPr lang="fr-FR"/>
          </a:p>
        </p:txBody>
      </p:sp>
      <p:sp>
        <p:nvSpPr>
          <p:cNvPr id="41" name="Espace réservé du texte 40">
            <a:extLst>
              <a:ext uri="{FF2B5EF4-FFF2-40B4-BE49-F238E27FC236}">
                <a16:creationId xmlns:a16="http://schemas.microsoft.com/office/drawing/2014/main" id="{5CB16856-3B7A-2744-CE73-E17B44AFB4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878" y="1454150"/>
            <a:ext cx="7112394" cy="417513"/>
          </a:xfrm>
        </p:spPr>
        <p:txBody>
          <a:bodyPr/>
          <a:lstStyle>
            <a:lvl1pPr marL="0" indent="0">
              <a:buNone/>
              <a:defRPr sz="2000" b="1" i="0">
                <a:solidFill>
                  <a:srgbClr val="009FE3"/>
                </a:solidFill>
                <a:latin typeface="Mulish" pitchFamily="2" charset="77"/>
                <a:cs typeface="Prompt SemiBold" pitchFamily="2" charset="-34"/>
              </a:defRPr>
            </a:lvl1pPr>
          </a:lstStyle>
          <a:p>
            <a:pPr lvl="0"/>
            <a:r>
              <a:rPr lang="fr-FR"/>
              <a:t>Sous-titre slide texte photo 1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898A84C0-5431-DE8B-1E7C-B982BDE632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878" y="2060236"/>
            <a:ext cx="6617584" cy="4067221"/>
          </a:xfrm>
        </p:spPr>
        <p:txBody>
          <a:bodyPr>
            <a:noAutofit/>
          </a:bodyPr>
          <a:lstStyle>
            <a:lvl1pPr marL="0" indent="0" algn="l">
              <a:buNone/>
              <a:defRPr lang="fr-FR" sz="1800" kern="1200" dirty="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Lorem ipsum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dolor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sit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amet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,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consectetuer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adipiscing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elit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Maecenas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porttitor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congue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massa.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Fusce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posuere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, magna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sed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pulvinar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ultricies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,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purus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lectus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malesuada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libero,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sit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amet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commodo magna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eros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quis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urna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>
              <a:latin typeface="Inter Tight" pitchFamily="2" charset="0"/>
              <a:ea typeface="Inter Tight" pitchFamily="2" charset="0"/>
              <a:cs typeface="Inter Tight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Nunc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viverra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imperdiet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enim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Fusce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est.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Vivamus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a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tellus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>
              <a:latin typeface="Inter Tight" pitchFamily="2" charset="0"/>
              <a:ea typeface="Inter Tight" pitchFamily="2" charset="0"/>
              <a:cs typeface="Inter Tight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Pellentesque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habitant morbi tristique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senectus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et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netus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et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malesuada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fames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ac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turpis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egestas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Proin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pharetra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nonummy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pede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Mauris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et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orci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Lorem ipsum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dolor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sit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amet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,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consectetuer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adipiscing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elit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Maecenas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porttitor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congue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massa.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Fusce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posuere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, magna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sed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pulvinar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ultricies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,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purus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lectus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malesuada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libero,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sit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amet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commodo magna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eros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quis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fr-FR" err="1">
                <a:latin typeface="Inter Tight" pitchFamily="2" charset="0"/>
                <a:ea typeface="Inter Tight" pitchFamily="2" charset="0"/>
                <a:cs typeface="Inter Tight" pitchFamily="2" charset="0"/>
              </a:rPr>
              <a:t>urna</a:t>
            </a:r>
            <a:r>
              <a:rPr lang="fr-FR">
                <a:latin typeface="Inter Tight" pitchFamily="2" charset="0"/>
                <a:ea typeface="Inter Tight" pitchFamily="2" charset="0"/>
                <a:cs typeface="Inter Tight" pitchFamily="2" charset="0"/>
              </a:rPr>
              <a:t>.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F47FB3E-E1A8-09A4-92E0-2AE080E75D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978" y="237089"/>
            <a:ext cx="8300006" cy="626691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1F485E"/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 dirty="0"/>
              <a:t>Modifier ici titre slide </a:t>
            </a:r>
            <a:r>
              <a:rPr lang="fr-FR" dirty="0" err="1"/>
              <a:t>bulletpoint</a:t>
            </a:r>
            <a:r>
              <a:rPr lang="fr-FR" dirty="0"/>
              <a:t> – bleu Epitech</a:t>
            </a:r>
          </a:p>
        </p:txBody>
      </p:sp>
    </p:spTree>
    <p:extLst>
      <p:ext uri="{BB962C8B-B14F-4D97-AF65-F5344CB8AC3E}">
        <p14:creationId xmlns:p14="http://schemas.microsoft.com/office/powerpoint/2010/main" val="49691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C5E35C74-9080-A8A9-EA78-18DAB87902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B2A0CD11-DF8A-4931-84D5-2F29BFDCF9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978" y="1095867"/>
            <a:ext cx="11067454" cy="4965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1600">
                <a:latin typeface="Inter Tight" pitchFamily="2" charset="0"/>
                <a:ea typeface="Inter Tight" pitchFamily="2" charset="0"/>
                <a:cs typeface="Inter Tight" pitchFamily="2" charset="0"/>
              </a:defRPr>
            </a:lvl2pPr>
            <a:lvl3pPr marL="914400" indent="0">
              <a:buNone/>
              <a:defRPr sz="1400">
                <a:latin typeface="Inter Tight" pitchFamily="2" charset="0"/>
                <a:ea typeface="Inter Tight" pitchFamily="2" charset="0"/>
                <a:cs typeface="Inter Tight" pitchFamily="2" charset="0"/>
              </a:defRPr>
            </a:lvl3pPr>
            <a:lvl4pPr marL="1371600" indent="0">
              <a:buNone/>
              <a:defRPr sz="2000">
                <a:latin typeface="Inter Tight" pitchFamily="2" charset="0"/>
                <a:ea typeface="Inter Tight" pitchFamily="2" charset="0"/>
                <a:cs typeface="Inter Tight" pitchFamily="2" charset="0"/>
              </a:defRPr>
            </a:lvl4pPr>
            <a:lvl5pPr marL="1828800" indent="0">
              <a:buNone/>
              <a:defRPr sz="2000">
                <a:latin typeface="Inter Tight" pitchFamily="2" charset="0"/>
                <a:ea typeface="Inter Tight" pitchFamily="2" charset="0"/>
                <a:cs typeface="Inter Tight" pitchFamily="2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932B085-EBC4-29E0-C2B9-EC16B2AD6B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978" y="237089"/>
            <a:ext cx="8300006" cy="626691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1F485E"/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 dirty="0"/>
              <a:t>Modifier ici titre slide </a:t>
            </a:r>
            <a:r>
              <a:rPr lang="fr-FR" dirty="0" err="1"/>
              <a:t>bulletpoint</a:t>
            </a:r>
            <a:r>
              <a:rPr lang="fr-FR" dirty="0"/>
              <a:t> – bleu Epitech</a:t>
            </a:r>
          </a:p>
        </p:txBody>
      </p:sp>
    </p:spTree>
    <p:extLst>
      <p:ext uri="{BB962C8B-B14F-4D97-AF65-F5344CB8AC3E}">
        <p14:creationId xmlns:p14="http://schemas.microsoft.com/office/powerpoint/2010/main" val="426767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violet, violette, Lilas, capture d’écran&#10;&#10;Description générée automatiquement">
            <a:extLst>
              <a:ext uri="{FF2B5EF4-FFF2-40B4-BE49-F238E27FC236}">
                <a16:creationId xmlns:a16="http://schemas.microsoft.com/office/drawing/2014/main" id="{5D289792-BE40-1E46-2F73-296002947F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B275147-F527-4E6F-2B49-496D9FF53C10}"/>
              </a:ext>
            </a:extLst>
          </p:cNvPr>
          <p:cNvSpPr txBox="1"/>
          <p:nvPr userDrawn="1"/>
        </p:nvSpPr>
        <p:spPr>
          <a:xfrm>
            <a:off x="2621275" y="2705725"/>
            <a:ext cx="742634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8800" dirty="0" err="1">
                <a:solidFill>
                  <a:schemeClr val="bg1"/>
                </a:solidFill>
                <a:latin typeface="Inter Tight" pitchFamily="2" charset="0"/>
              </a:rPr>
              <a:t>Any</a:t>
            </a:r>
            <a:r>
              <a:rPr lang="fr-FR" sz="8800" dirty="0">
                <a:solidFill>
                  <a:schemeClr val="bg1"/>
                </a:solidFill>
                <a:latin typeface="Inter Tight" pitchFamily="2" charset="0"/>
              </a:rPr>
              <a:t> questions?</a:t>
            </a:r>
            <a:endParaRPr lang="fr-FR" sz="8800" dirty="0">
              <a:solidFill>
                <a:schemeClr val="bg1"/>
              </a:solidFill>
            </a:endParaRPr>
          </a:p>
        </p:txBody>
      </p:sp>
      <p:pic>
        <p:nvPicPr>
          <p:cNvPr id="2" name="Image 5" descr="Une image contenant logo, symbole, Graphique, Police&#10;&#10;Description générée automatiquement">
            <a:extLst>
              <a:ext uri="{FF2B5EF4-FFF2-40B4-BE49-F238E27FC236}">
                <a16:creationId xmlns:a16="http://schemas.microsoft.com/office/drawing/2014/main" id="{1C6F0F74-AF98-B67B-2DB7-E61E25344E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448" y="1893468"/>
            <a:ext cx="762001" cy="495621"/>
          </a:xfrm>
          <a:prstGeom prst="rect">
            <a:avLst/>
          </a:prstGeom>
        </p:spPr>
      </p:pic>
      <p:sp>
        <p:nvSpPr>
          <p:cNvPr id="5" name="ZoneTexte 3">
            <a:extLst>
              <a:ext uri="{FF2B5EF4-FFF2-40B4-BE49-F238E27FC236}">
                <a16:creationId xmlns:a16="http://schemas.microsoft.com/office/drawing/2014/main" id="{BE113E82-3800-3621-CF96-02F166E022D5}"/>
              </a:ext>
            </a:extLst>
          </p:cNvPr>
          <p:cNvSpPr txBox="1"/>
          <p:nvPr userDrawn="1"/>
        </p:nvSpPr>
        <p:spPr>
          <a:xfrm>
            <a:off x="2621274" y="1029697"/>
            <a:ext cx="7426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600" dirty="0" err="1">
                <a:solidFill>
                  <a:schemeClr val="bg1"/>
                </a:solidFill>
                <a:latin typeface="Inter Tight" pitchFamily="2" charset="0"/>
              </a:rPr>
              <a:t>Thank</a:t>
            </a:r>
            <a:r>
              <a:rPr lang="fr-FR" sz="3600" dirty="0">
                <a:solidFill>
                  <a:schemeClr val="bg1"/>
                </a:solidFill>
                <a:latin typeface="Inter Tight" pitchFamily="2" charset="0"/>
              </a:rPr>
              <a:t> </a:t>
            </a:r>
            <a:r>
              <a:rPr lang="fr-FR" sz="3600" dirty="0" err="1">
                <a:solidFill>
                  <a:schemeClr val="bg1"/>
                </a:solidFill>
                <a:latin typeface="Inter Tight" pitchFamily="2" charset="0"/>
              </a:rPr>
              <a:t>you</a:t>
            </a:r>
            <a:endParaRPr lang="fr-F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77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96171E8-07FD-4998-81C9-009C52A9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FD8269-EB07-434D-A7FF-7864F7A7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09212-C67C-4EB0-8FF0-7FACCEAFD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663A35-A8ED-48BF-B94F-0CEA9EE5D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7C9600-E128-4DDB-9FA2-A0878D0AD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9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0" r:id="rId2"/>
    <p:sldLayoutId id="2147483707" r:id="rId3"/>
    <p:sldLayoutId id="2147483708" r:id="rId4"/>
    <p:sldLayoutId id="2147483704" r:id="rId5"/>
    <p:sldLayoutId id="214748370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medium.com/geekculture/basics-of-oop-from-a-game-development-point-of-view-de87c894f65" TargetMode="External"/><Relationship Id="rId7" Type="http://schemas.openxmlformats.org/officeDocument/2006/relationships/hyperlink" Target="https://www.youtube.com/watch?v=rjDUpxtUPAE" TargetMode="External"/><Relationship Id="rId2" Type="http://schemas.openxmlformats.org/officeDocument/2006/relationships/hyperlink" Target="https://bleedingedge.studio/blog/game-development-oop-in-gaming-concept-24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0OLSMPnwfdM" TargetMode="External"/><Relationship Id="rId5" Type="http://schemas.openxmlformats.org/officeDocument/2006/relationships/hyperlink" Target="https://www.youtube.com/watch?v=1gir2R7G9ws&amp;list=PLWms45O3n--6TvZmtFHaCWRZwEqnz2MHa" TargetMode="External"/><Relationship Id="rId4" Type="http://schemas.openxmlformats.org/officeDocument/2006/relationships/hyperlink" Target="https://www.youtube.com/watch?v=-b3AyPHW9K0" TargetMode="External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77947B9B-01E4-CC10-4685-971553CBBB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T-JAV-501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ACB521-CB69-D4C9-1212-816714A86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r>
              <a:rPr lang="fr-FR" sz="2800" dirty="0"/>
              <a:t>Kick-off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F015A73-4230-D347-77B1-C13E76D16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0975" y="872019"/>
            <a:ext cx="3790043" cy="141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9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1FABB0-6A90-6B95-F2D0-534828EA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8100" y="1329779"/>
            <a:ext cx="7934324" cy="4406208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Modularity</a:t>
            </a:r>
            <a:br>
              <a:rPr lang="en-GB" sz="2800" dirty="0"/>
            </a:br>
            <a:r>
              <a:rPr lang="en-GB" dirty="0"/>
              <a:t>OOP promotes breaking down a program into smaller pieces.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Reusability</a:t>
            </a:r>
            <a:br>
              <a:rPr lang="en-GB" sz="2800" dirty="0"/>
            </a:br>
            <a:r>
              <a:rPr lang="en-GB" dirty="0"/>
              <a:t>With OOP, code can be reused, reducing redundancy.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Maintainability</a:t>
            </a:r>
            <a:br>
              <a:rPr lang="en-GB" sz="2800" dirty="0"/>
            </a:br>
            <a:r>
              <a:rPr lang="en-GB" dirty="0"/>
              <a:t>OOP clear structure and modularity make it easier to debug, update and test.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Scalability</a:t>
            </a:r>
            <a:br>
              <a:rPr lang="en-GB" sz="2000" dirty="0"/>
            </a:br>
            <a:r>
              <a:rPr lang="en-GB" dirty="0"/>
              <a:t>OOP supports the creation of large and complex applications, easy to extend.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Why Object-Oriented Programming?</a:t>
            </a:r>
          </a:p>
        </p:txBody>
      </p:sp>
      <p:pic>
        <p:nvPicPr>
          <p:cNvPr id="5" name="Picture 4" descr="A yellow question mark and a black background&#10;&#10;Description automatically generated">
            <a:extLst>
              <a:ext uri="{FF2B5EF4-FFF2-40B4-BE49-F238E27FC236}">
                <a16:creationId xmlns:a16="http://schemas.microsoft.com/office/drawing/2014/main" id="{8925E277-EC6B-476A-74C0-5E069053E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69" y="1712717"/>
            <a:ext cx="3640331" cy="364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0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OOP main components and principles</a:t>
            </a:r>
          </a:p>
        </p:txBody>
      </p:sp>
      <p:pic>
        <p:nvPicPr>
          <p:cNvPr id="5" name="Picture 4" descr="A colorful pie chart with a black background&#10;&#10;Description automatically generated">
            <a:extLst>
              <a:ext uri="{FF2B5EF4-FFF2-40B4-BE49-F238E27FC236}">
                <a16:creationId xmlns:a16="http://schemas.microsoft.com/office/drawing/2014/main" id="{CB6EE979-35C4-75A4-582C-337D36D2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609" y="942625"/>
            <a:ext cx="6990781" cy="560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1FABB0-6A90-6B95-F2D0-534828EA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900" y="1343025"/>
            <a:ext cx="8420100" cy="4876800"/>
          </a:xfrm>
        </p:spPr>
        <p:txBody>
          <a:bodyPr anchor="ctr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OOP reflects real-world</a:t>
            </a:r>
            <a:br>
              <a:rPr lang="en-GB" sz="2000" dirty="0"/>
            </a:br>
            <a:r>
              <a:rPr lang="en-GB" sz="1600" dirty="0"/>
              <a:t>Game elements (characters, items, …) are easier to model and implement</a:t>
            </a:r>
            <a:br>
              <a:rPr lang="en-GB" sz="1600" dirty="0"/>
            </a:br>
            <a:endParaRPr lang="en-GB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Inheritance fasten development and reduces dev costs</a:t>
            </a:r>
            <a:br>
              <a:rPr lang="en-GB" sz="2000" dirty="0"/>
            </a:br>
            <a:r>
              <a:rPr lang="en-GB" sz="1600" dirty="0"/>
              <a:t>A single class can be used to generate tons of objects</a:t>
            </a:r>
            <a:br>
              <a:rPr lang="en-GB" sz="1600" dirty="0"/>
            </a:br>
            <a:r>
              <a:rPr lang="en-GB" sz="1600" dirty="0"/>
              <a:t>Player and Enemy classes can derive from a Character class</a:t>
            </a:r>
            <a:br>
              <a:rPr lang="en-GB" sz="1600" dirty="0"/>
            </a:br>
            <a:endParaRPr lang="en-GB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Polymorphism provides flexibility and consistency</a:t>
            </a:r>
            <a:br>
              <a:rPr lang="en-GB" sz="2000" dirty="0"/>
            </a:br>
            <a:r>
              <a:rPr lang="en-GB" sz="1600" dirty="0"/>
              <a:t>An attack method or an item object can be used, sometimes differently, by many characters</a:t>
            </a:r>
            <a:br>
              <a:rPr lang="en-GB" sz="1600" dirty="0"/>
            </a:br>
            <a:endParaRPr lang="en-GB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Encapsulation ensures robustness</a:t>
            </a:r>
            <a:br>
              <a:rPr lang="en-GB" sz="2000" dirty="0"/>
            </a:br>
            <a:r>
              <a:rPr lang="en-GB" sz="1600" dirty="0"/>
              <a:t>Attributes, such as age and health, are protected from “accidental” modifications</a:t>
            </a:r>
            <a:br>
              <a:rPr lang="en-GB" sz="1600" dirty="0"/>
            </a:br>
            <a:endParaRPr lang="en-GB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Abstraction decreases complexity</a:t>
            </a:r>
            <a:br>
              <a:rPr lang="en-GB" sz="2000" dirty="0"/>
            </a:br>
            <a:r>
              <a:rPr lang="en-GB" sz="1600" dirty="0"/>
              <a:t>The underlying complexity of high-level methods, such as move() or attack(), is hidden</a:t>
            </a:r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Examples of OOP benefits in game development</a:t>
            </a:r>
          </a:p>
        </p:txBody>
      </p:sp>
      <p:pic>
        <p:nvPicPr>
          <p:cNvPr id="5" name="Picture 4" descr="A hand with a thumb up&#10;&#10;Description automatically generated">
            <a:extLst>
              <a:ext uri="{FF2B5EF4-FFF2-40B4-BE49-F238E27FC236}">
                <a16:creationId xmlns:a16="http://schemas.microsoft.com/office/drawing/2014/main" id="{C8A458DA-56F2-8C8F-6A90-A09CAAC16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29" y="2158889"/>
            <a:ext cx="3245071" cy="324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46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Inheritance &amp; Polymorphism</a:t>
            </a:r>
          </a:p>
        </p:txBody>
      </p:sp>
      <p:pic>
        <p:nvPicPr>
          <p:cNvPr id="21" name="Picture 20" descr="A group of animals with text above&#10;&#10;Description automatically generated">
            <a:extLst>
              <a:ext uri="{FF2B5EF4-FFF2-40B4-BE49-F238E27FC236}">
                <a16:creationId xmlns:a16="http://schemas.microsoft.com/office/drawing/2014/main" id="{D7C03629-3C63-DA0E-2D80-BFC50200F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11" y="1109167"/>
            <a:ext cx="5408327" cy="463966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1FABB0-6A90-6B95-F2D0-534828EA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899" y="2352675"/>
            <a:ext cx="4752975" cy="1352550"/>
          </a:xfrm>
        </p:spPr>
        <p:txBody>
          <a:bodyPr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GB" sz="2000" b="1" i="1" dirty="0"/>
              <a:t>D</a:t>
            </a:r>
            <a:r>
              <a:rPr lang="en-GB" sz="2000" i="1" dirty="0"/>
              <a:t>on’t </a:t>
            </a:r>
            <a:r>
              <a:rPr lang="en-GB" sz="2000" b="1" i="1" dirty="0"/>
              <a:t>R</a:t>
            </a:r>
            <a:r>
              <a:rPr lang="en-GB" sz="2000" i="1" dirty="0"/>
              <a:t>epeat </a:t>
            </a:r>
            <a:r>
              <a:rPr lang="en-GB" sz="2000" b="1" i="1" dirty="0"/>
              <a:t>Y</a:t>
            </a:r>
            <a:r>
              <a:rPr lang="en-GB" sz="2000" i="1" dirty="0"/>
              <a:t>ourself!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GB" sz="2000" i="1" dirty="0"/>
              <a:t>Code it once, reuse anywhere.</a:t>
            </a:r>
          </a:p>
        </p:txBody>
      </p: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738E084D-B84A-BD31-BF41-149BC3FE571C}"/>
              </a:ext>
            </a:extLst>
          </p:cNvPr>
          <p:cNvSpPr txBox="1">
            <a:spLocks/>
          </p:cNvSpPr>
          <p:nvPr/>
        </p:nvSpPr>
        <p:spPr>
          <a:xfrm>
            <a:off x="1782110" y="5770597"/>
            <a:ext cx="2704164" cy="4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GB" sz="2000" i="1" dirty="0"/>
              <a:t>speak() -&gt; Woof</a:t>
            </a:r>
          </a:p>
        </p:txBody>
      </p:sp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CB8B792E-DD29-7604-FE5F-0021C332393C}"/>
              </a:ext>
            </a:extLst>
          </p:cNvPr>
          <p:cNvSpPr txBox="1">
            <a:spLocks/>
          </p:cNvSpPr>
          <p:nvPr/>
        </p:nvSpPr>
        <p:spPr>
          <a:xfrm>
            <a:off x="4486275" y="5748833"/>
            <a:ext cx="2770840" cy="43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GB" sz="2000" i="1" dirty="0"/>
              <a:t>speak() -&gt; </a:t>
            </a:r>
            <a:r>
              <a:rPr lang="en-GB" sz="2000" i="1" dirty="0" err="1"/>
              <a:t>Meoow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203187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Inheritance types</a:t>
            </a:r>
          </a:p>
        </p:txBody>
      </p:sp>
      <p:pic>
        <p:nvPicPr>
          <p:cNvPr id="7" name="Picture 6" descr="Several blue and white rectangular shapes&#10;&#10;Description automatically generated with medium confidence">
            <a:extLst>
              <a:ext uri="{FF2B5EF4-FFF2-40B4-BE49-F238E27FC236}">
                <a16:creationId xmlns:a16="http://schemas.microsoft.com/office/drawing/2014/main" id="{CE19693B-DA9D-6F21-31CA-654A00F1D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84" y="1306703"/>
            <a:ext cx="6781800" cy="4244594"/>
          </a:xfrm>
          <a:prstGeom prst="rect">
            <a:avLst/>
          </a:prstGeom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263D8C22-6336-124A-A7A5-BF02CEBD3E0E}"/>
              </a:ext>
            </a:extLst>
          </p:cNvPr>
          <p:cNvSpPr txBox="1">
            <a:spLocks/>
          </p:cNvSpPr>
          <p:nvPr/>
        </p:nvSpPr>
        <p:spPr>
          <a:xfrm>
            <a:off x="609600" y="5551297"/>
            <a:ext cx="10953749" cy="484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dirty="0"/>
              <a:t>Many types exists, use the one(s) that fit your needs</a:t>
            </a:r>
          </a:p>
        </p:txBody>
      </p:sp>
    </p:spTree>
    <p:extLst>
      <p:ext uri="{BB962C8B-B14F-4D97-AF65-F5344CB8AC3E}">
        <p14:creationId xmlns:p14="http://schemas.microsoft.com/office/powerpoint/2010/main" val="373178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Class = blueprint for objects</a:t>
            </a:r>
          </a:p>
        </p:txBody>
      </p:sp>
      <p:pic>
        <p:nvPicPr>
          <p:cNvPr id="5" name="Picture 4" descr="A diagram of cars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C1C4BF39-8C48-1C12-C6A7-023F7B78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124" y="1149530"/>
            <a:ext cx="4883751" cy="531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2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Class abstraction</a:t>
            </a:r>
          </a:p>
        </p:txBody>
      </p:sp>
      <p:pic>
        <p:nvPicPr>
          <p:cNvPr id="6" name="Picture 5" descr="A toy block with speech bubbles&#10;&#10;Description automatically generated">
            <a:extLst>
              <a:ext uri="{FF2B5EF4-FFF2-40B4-BE49-F238E27FC236}">
                <a16:creationId xmlns:a16="http://schemas.microsoft.com/office/drawing/2014/main" id="{46E651E0-5BE8-51BF-F000-971B80DFD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06550"/>
            <a:ext cx="5467349" cy="3644899"/>
          </a:xfrm>
          <a:prstGeom prst="rect">
            <a:avLst/>
          </a:prstGeom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CE8BA48-4C39-73CF-77AB-919C996A86B2}"/>
              </a:ext>
            </a:extLst>
          </p:cNvPr>
          <p:cNvSpPr txBox="1">
            <a:spLocks/>
          </p:cNvSpPr>
          <p:nvPr/>
        </p:nvSpPr>
        <p:spPr>
          <a:xfrm>
            <a:off x="6069820" y="1879180"/>
            <a:ext cx="6002327" cy="3102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handle complexity by hiding unnecessary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contain at least one abstract "empty" method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 a kind of template to inherit from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 the creation of interface with definitions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optimize inheritance by not duplicating functions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3236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Visibility</a:t>
            </a:r>
          </a:p>
        </p:txBody>
      </p:sp>
      <p:pic>
        <p:nvPicPr>
          <p:cNvPr id="5" name="Picture 4" descr="A cartoon of a person playing a ball&#10;&#10;Description automatically generated">
            <a:extLst>
              <a:ext uri="{FF2B5EF4-FFF2-40B4-BE49-F238E27FC236}">
                <a16:creationId xmlns:a16="http://schemas.microsoft.com/office/drawing/2014/main" id="{C37E0E86-BF58-2A8E-3D44-EEED4F4E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12" y="863780"/>
            <a:ext cx="7597775" cy="555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3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1FABB0-6A90-6B95-F2D0-534828EA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495924"/>
            <a:ext cx="10991850" cy="1000126"/>
          </a:xfrm>
        </p:spPr>
        <p:txBody>
          <a:bodyPr anchor="ctr">
            <a:normAutofit/>
          </a:bodyPr>
          <a:lstStyle/>
          <a:p>
            <a:pPr algn="ctr"/>
            <a:r>
              <a:rPr lang="en-GB" sz="2800" dirty="0"/>
              <a:t>Manage the unexpected events by catching errors and anomalies:</a:t>
            </a:r>
          </a:p>
          <a:p>
            <a:pPr algn="ctr"/>
            <a:r>
              <a:rPr lang="en-GB" sz="2800" dirty="0"/>
              <a:t>=&gt; Reduce the probability of crashes.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Exceptions</a:t>
            </a:r>
            <a:endParaRPr lang="en-GB" dirty="0"/>
          </a:p>
        </p:txBody>
      </p:sp>
      <p:pic>
        <p:nvPicPr>
          <p:cNvPr id="5" name="Picture 4" descr="A red apple surrounded by green apples&#10;&#10;Description automatically generated">
            <a:extLst>
              <a:ext uri="{FF2B5EF4-FFF2-40B4-BE49-F238E27FC236}">
                <a16:creationId xmlns:a16="http://schemas.microsoft.com/office/drawing/2014/main" id="{F1702FC7-F05F-9203-B258-A7ABF6FD6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985" y="1132706"/>
            <a:ext cx="5850029" cy="409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7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About the project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2526CB-5EF5-8026-3991-E3B93ED5D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0" y="1225896"/>
            <a:ext cx="7334250" cy="4406208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OOP to create a 2D game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as many OOP principles as possible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First, validate your idea with local staff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graphical interface is mandatory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docker and automate your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 documentation (UML diagrams)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0FD84-A6B4-22A9-1411-D6C9D0EFEFF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8600" y="1381125"/>
            <a:ext cx="1800000" cy="180000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A21448-82A2-2B3A-259F-A03E9F7B143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08600" y="3429000"/>
            <a:ext cx="1800000" cy="180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36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724E-A2B5-39EA-11F6-F8EDE786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1FABB0-6A90-6B95-F2D0-534828EA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325" y="1381124"/>
            <a:ext cx="8210549" cy="2047875"/>
          </a:xfrm>
        </p:spPr>
        <p:txBody>
          <a:bodyPr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linkClick r:id="rId2"/>
              </a:rPr>
              <a:t>Unveiling the power of OOP in gaming concepts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linkClick r:id="rId3"/>
              </a:rPr>
              <a:t>Basics of OOP from a game development point of view</a:t>
            </a:r>
            <a:endParaRPr lang="en-GB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8F310-DBBD-4DE8-A869-2F621073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Stuff to dig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E1FABB0-6A90-6B95-F2D0-534828EA0EBF}"/>
              </a:ext>
            </a:extLst>
          </p:cNvPr>
          <p:cNvSpPr txBox="1">
            <a:spLocks/>
          </p:cNvSpPr>
          <p:nvPr/>
        </p:nvSpPr>
        <p:spPr>
          <a:xfrm>
            <a:off x="3362324" y="3660702"/>
            <a:ext cx="8210550" cy="204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hlinkClick r:id="rId4"/>
              </a:rPr>
              <a:t>OOUX Happy Hour – Object-Oriented video games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Java programming: Let’s build a game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Common java security issues and their remediations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7"/>
              </a:rPr>
              <a:t>10 Most Common Java Developer Mistakes</a:t>
            </a:r>
            <a:endParaRPr lang="en-GB" sz="2400" dirty="0"/>
          </a:p>
        </p:txBody>
      </p:sp>
      <p:pic>
        <p:nvPicPr>
          <p:cNvPr id="6" name="Picture 5" descr="A popcorn and soda next to a television&#10;&#10;Description automatically generated">
            <a:extLst>
              <a:ext uri="{FF2B5EF4-FFF2-40B4-BE49-F238E27FC236}">
                <a16:creationId xmlns:a16="http://schemas.microsoft.com/office/drawing/2014/main" id="{5F61B1BD-66FE-FB13-8294-9ED11AC9EA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670228"/>
            <a:ext cx="2028825" cy="2028825"/>
          </a:xfrm>
          <a:prstGeom prst="rect">
            <a:avLst/>
          </a:prstGeom>
        </p:spPr>
      </p:pic>
      <p:pic>
        <p:nvPicPr>
          <p:cNvPr id="8" name="Picture 7" descr="A book with a bookmark&#10;&#10;Description automatically generated">
            <a:extLst>
              <a:ext uri="{FF2B5EF4-FFF2-40B4-BE49-F238E27FC236}">
                <a16:creationId xmlns:a16="http://schemas.microsoft.com/office/drawing/2014/main" id="{C125ED6D-092F-AFC8-212D-3D3317C536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" y="1435173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4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7880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98cf11-3a17-4b42-8b38-7c0f01616542" xsi:nil="true"/>
    <lcf76f155ced4ddcb4097134ff3c332f xmlns="90face15-de70-4464-be80-4af667389416">
      <Terms xmlns="http://schemas.microsoft.com/office/infopath/2007/PartnerControls"/>
    </lcf76f155ced4ddcb4097134ff3c332f>
    <SharedWithUsers xmlns="c198cf11-3a17-4b42-8b38-7c0f01616542">
      <UserInfo>
        <DisplayName/>
        <AccountId xsi:nil="true"/>
        <AccountType/>
      </UserInfo>
    </SharedWithUsers>
    <Math_Settings xmlns="90face15-de70-4464-be80-4af667389416" xsi:nil="true"/>
    <Owner xmlns="90face15-de70-4464-be80-4af667389416">
      <UserInfo>
        <DisplayName/>
        <AccountId xsi:nil="true"/>
        <AccountType/>
      </UserInfo>
    </Owner>
    <Distribution_Groups xmlns="90face15-de70-4464-be80-4af667389416" xsi:nil="true"/>
    <_ip_UnifiedCompliancePolicyUIAction xmlns="http://schemas.microsoft.com/sharepoint/v3" xsi:nil="true"/>
    <LMS_Mappings xmlns="90face15-de70-4464-be80-4af667389416" xsi:nil="true"/>
    <NotebookType xmlns="90face15-de70-4464-be80-4af667389416" xsi:nil="true"/>
    <Leaders xmlns="90face15-de70-4464-be80-4af667389416">
      <UserInfo>
        <DisplayName/>
        <AccountId xsi:nil="true"/>
        <AccountType/>
      </UserInfo>
    </Leaders>
    <Invited_Leaders xmlns="90face15-de70-4464-be80-4af667389416" xsi:nil="true"/>
    <IsNotebookLocked xmlns="90face15-de70-4464-be80-4af667389416" xsi:nil="true"/>
    <Templates xmlns="90face15-de70-4464-be80-4af667389416" xsi:nil="true"/>
    <Has_Leaders_Only_SectionGroup xmlns="90face15-de70-4464-be80-4af667389416" xsi:nil="true"/>
    <TeamsChannelId xmlns="90face15-de70-4464-be80-4af667389416" xsi:nil="true"/>
    <_ip_UnifiedCompliancePolicyProperties xmlns="http://schemas.microsoft.com/sharepoint/v3" xsi:nil="true"/>
    <Self_Registration_Enabled xmlns="90face15-de70-4464-be80-4af667389416" xsi:nil="true"/>
    <CultureName xmlns="90face15-de70-4464-be80-4af667389416" xsi:nil="true"/>
    <Is_Collaboration_Space_Locked xmlns="90face15-de70-4464-be80-4af667389416" xsi:nil="true"/>
    <Members xmlns="90face15-de70-4464-be80-4af667389416">
      <UserInfo>
        <DisplayName/>
        <AccountId xsi:nil="true"/>
        <AccountType/>
      </UserInfo>
    </Members>
    <Member_Groups xmlns="90face15-de70-4464-be80-4af667389416">
      <UserInfo>
        <DisplayName/>
        <AccountId xsi:nil="true"/>
        <AccountType/>
      </UserInfo>
    </Member_Groups>
    <FolderType xmlns="90face15-de70-4464-be80-4af667389416" xsi:nil="true"/>
    <AppVersion xmlns="90face15-de70-4464-be80-4af667389416" xsi:nil="true"/>
    <DefaultSectionNames xmlns="90face15-de70-4464-be80-4af667389416" xsi:nil="true"/>
    <Invited_Members xmlns="90face15-de70-4464-be80-4af66738941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5461EC25B6D840AF7EA2EE3540BDC2" ma:contentTypeVersion="36" ma:contentTypeDescription="Crée un document." ma:contentTypeScope="" ma:versionID="ec07d5e31b4ed7a8e8667140450dee0b">
  <xsd:schema xmlns:xsd="http://www.w3.org/2001/XMLSchema" xmlns:xs="http://www.w3.org/2001/XMLSchema" xmlns:p="http://schemas.microsoft.com/office/2006/metadata/properties" xmlns:ns1="http://schemas.microsoft.com/sharepoint/v3" xmlns:ns2="90face15-de70-4464-be80-4af667389416" xmlns:ns3="c198cf11-3a17-4b42-8b38-7c0f01616542" targetNamespace="http://schemas.microsoft.com/office/2006/metadata/properties" ma:root="true" ma:fieldsID="693cf828ff1a88f5acd574f864bad8f6" ns1:_="" ns2:_="" ns3:_="">
    <xsd:import namespace="http://schemas.microsoft.com/sharepoint/v3"/>
    <xsd:import namespace="90face15-de70-4464-be80-4af667389416"/>
    <xsd:import namespace="c198cf11-3a17-4b42-8b38-7c0f01616542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6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37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ace15-de70-4464-be80-4af667389416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3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1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8cf11-3a17-4b42-8b38-7c0f01616542" elementFormDefault="qualified">
    <xsd:import namespace="http://schemas.microsoft.com/office/2006/documentManagement/types"/>
    <xsd:import namespace="http://schemas.microsoft.com/office/infopath/2007/PartnerControls"/>
    <xsd:element name="SharedWithUsers" ma:index="3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2" nillable="true" ma:displayName="Taxonomy Catch All Column" ma:hidden="true" ma:list="{1d7ee8bc-0010-450a-9e03-1cbd8667ef59}" ma:internalName="TaxCatchAll" ma:showField="CatchAllData" ma:web="c198cf11-3a17-4b42-8b38-7c0f016165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D749D4-8CB5-4188-8A00-B45B0553EE38}">
  <ds:schemaRefs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c198cf11-3a17-4b42-8b38-7c0f01616542"/>
    <ds:schemaRef ds:uri="90face15-de70-4464-be80-4af667389416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ED7B8E9-05FA-4D68-ADF0-599FBAA63BC5}">
  <ds:schemaRefs>
    <ds:schemaRef ds:uri="90face15-de70-4464-be80-4af667389416"/>
    <ds:schemaRef ds:uri="c198cf11-3a17-4b42-8b38-7c0f016165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6F0409-FD6C-4B9A-92EA-4169C46F05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385</Words>
  <Application>Microsoft Office PowerPoint</Application>
  <PresentationFormat>Widescreen</PresentationFormat>
  <Paragraphs>52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Inter Tight</vt:lpstr>
      <vt:lpstr>Mulish</vt:lpstr>
      <vt:lpstr>Thème Office</vt:lpstr>
      <vt:lpstr>PowerPoint Presentation</vt:lpstr>
      <vt:lpstr>Why Object-Oriented Programming?</vt:lpstr>
      <vt:lpstr>OOP main components and principles</vt:lpstr>
      <vt:lpstr>Examples of OOP benefits in game development</vt:lpstr>
      <vt:lpstr>Inheritance &amp; Polymorphism</vt:lpstr>
      <vt:lpstr>Inheritance types</vt:lpstr>
      <vt:lpstr>Class = blueprint for objects</vt:lpstr>
      <vt:lpstr>Class abstraction</vt:lpstr>
      <vt:lpstr>Visibility</vt:lpstr>
      <vt:lpstr>Exceptions</vt:lpstr>
      <vt:lpstr>About the project</vt:lpstr>
      <vt:lpstr>Stuff to dig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T-JAV-501_kickoff</dc:title>
  <dc:creator>Fabien Rollo</dc:creator>
  <cp:lastModifiedBy>gaspard varennes</cp:lastModifiedBy>
  <cp:revision>32</cp:revision>
  <cp:lastPrinted>2020-07-06T09:25:56Z</cp:lastPrinted>
  <dcterms:created xsi:type="dcterms:W3CDTF">2018-07-13T09:31:17Z</dcterms:created>
  <dcterms:modified xsi:type="dcterms:W3CDTF">2024-10-02T08:33:48Z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0x010100EFAAE9954E16144CA2E716033DA83085</vt:lpwstr>
  </property>
  <property fmtid="{D5CDD505-2E9C-101B-9397-08002B2CF9AE}" pid="3" name="_dlc_DocIdItemGuid">
    <vt:lpwstr>14edaaf2-e921-4a0f-ae0f-50a99c397da2</vt:lpwstr>
  </property>
  <property fmtid="{D5CDD505-2E9C-101B-9397-08002B2CF9AE}" pid="4" name="MediaServiceImageTags">
    <vt:lpwstr/>
  </property>
  <property fmtid="{D5CDD505-2E9C-101B-9397-08002B2CF9AE}" pid="5" name="Order">
    <vt:lpwstr>50746000.0000000</vt:lpwstr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